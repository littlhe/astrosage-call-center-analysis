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Albert Sans" panose="020B0604020202020204" charset="0"/>
      <p:regular r:id="rId21"/>
      <p:bold r:id="rId22"/>
      <p:italic r:id="rId23"/>
      <p:boldItalic r:id="rId24"/>
    </p:embeddedFont>
    <p:embeddedFont>
      <p:font typeface="Albert Sans Medium" panose="020B0604020202020204" charset="0"/>
      <p:regular r:id="rId25"/>
      <p:bold r:id="rId26"/>
      <p:italic r:id="rId27"/>
      <p:boldItalic r:id="rId28"/>
    </p:embeddedFont>
    <p:embeddedFont>
      <p:font typeface="Albert Sans SemiBold" panose="020B0604020202020204" charset="0"/>
      <p:regular r:id="rId29"/>
      <p:bold r:id="rId30"/>
      <p:italic r:id="rId31"/>
      <p:boldItalic r:id="rId32"/>
    </p:embeddedFont>
    <p:embeddedFont>
      <p:font typeface="Inter Medium" panose="020B0604020202020204" charset="0"/>
      <p:regular r:id="rId33"/>
      <p:bold r:id="rId34"/>
      <p:italic r:id="rId35"/>
      <p:boldItalic r:id="rId36"/>
    </p:embeddedFont>
    <p:embeddedFont>
      <p:font typeface="Open Sans" pitchFamily="2" charset="0"/>
      <p:regular r:id="rId37"/>
      <p:bold r:id="rId38"/>
      <p:italic r:id="rId39"/>
      <p:boldItalic r:id="rId40"/>
    </p:embeddedFont>
    <p:embeddedFont>
      <p:font typeface="Raleway" pitchFamily="2" charset="0"/>
      <p:regular r:id="rId41"/>
      <p:bold r:id="rId42"/>
      <p:italic r:id="rId43"/>
      <p:boldItalic r:id="rId44"/>
    </p:embeddedFont>
    <p:embeddedFont>
      <p:font typeface="Syne" panose="020B0604020202020204" charset="0"/>
      <p:regular r:id="rId45"/>
      <p:bold r:id="rId46"/>
    </p:embeddedFont>
    <p:embeddedFont>
      <p:font typeface="Syne Medium" panose="020B0604020202020204" charset="0"/>
      <p:regular r:id="rId47"/>
      <p:bold r:id="rId48"/>
    </p:embeddedFont>
    <p:embeddedFont>
      <p:font typeface="Syne SemiBold" panose="020B0604020202020204" charset="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font" Target="fonts/font3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font" Target="fonts/font2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3785ba7bf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b3785ba7bf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3785ba7b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b3785ba7b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3785ba7b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3b3785ba7b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techstartup-osc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 idx="2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 idx="3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4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 idx="5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sz="2000" b="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6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7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8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 title="techstartup-osc.jpg"/>
          <p:cNvPicPr preferRelativeResize="0"/>
          <p:nvPr/>
        </p:nvPicPr>
        <p:blipFill rotWithShape="1">
          <a:blip r:embed="rId2">
            <a:alphaModFix/>
          </a:blip>
          <a:srcRect t="31124" r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 idx="2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 title="techstartup-osc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1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2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3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4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 title="techstartup-osc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2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3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4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5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6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2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ubTitle" idx="3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4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5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6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ubTitle" idx="7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8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9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13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14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15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539500"/>
            <a:ext cx="6576000" cy="9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000"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i="0" u="sng" strike="noStrike" cap="non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i="0" u="sng" strike="noStrike" cap="non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Flaticon</a:t>
            </a:r>
            <a:r>
              <a:rPr lang="en" sz="1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i="0" u="sng" strike="noStrike" cap="non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Freepik</a:t>
            </a:r>
            <a:r>
              <a:rPr lang="en" sz="1000" b="0" i="0" u="sng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i="0" u="sng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title="techstartup-osc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 title="techstartup-osc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>
            <a:spLocks noGrp="1"/>
          </p:cNvSpPr>
          <p:nvPr>
            <p:ph type="pic" idx="2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 title="techstartup-osc.jpg"/>
          <p:cNvPicPr preferRelativeResize="0"/>
          <p:nvPr/>
        </p:nvPicPr>
        <p:blipFill rotWithShape="1">
          <a:blip r:embed="rId2">
            <a:alphaModFix/>
          </a:blip>
          <a:srcRect t="31124" r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techstartup-osc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techstartup-osc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sz="26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subTitle" idx="1"/>
          </p:nvPr>
        </p:nvSpPr>
        <p:spPr>
          <a:xfrm>
            <a:off x="3668399" y="3510280"/>
            <a:ext cx="1844127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25" tIns="106225" rIns="106225" bIns="10622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"/>
              <a:buNone/>
            </a:pPr>
            <a:r>
              <a:rPr lang="en" sz="1859" dirty="0"/>
              <a:t>Prajyot .P. Naik</a:t>
            </a:r>
            <a:endParaRPr sz="1859" dirty="0"/>
          </a:p>
        </p:txBody>
      </p:sp>
      <p:sp>
        <p:nvSpPr>
          <p:cNvPr id="117" name="Google Shape;117;p24"/>
          <p:cNvSpPr txBox="1">
            <a:spLocks noGrp="1"/>
          </p:cNvSpPr>
          <p:nvPr>
            <p:ph type="ctrTitle"/>
          </p:nvPr>
        </p:nvSpPr>
        <p:spPr>
          <a:xfrm>
            <a:off x="2342549" y="1132500"/>
            <a:ext cx="4458900" cy="19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25" tIns="106225" rIns="106225" bIns="1062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42"/>
              <a:buNone/>
            </a:pPr>
            <a:r>
              <a:rPr lang="en" sz="5809" b="1">
                <a:latin typeface="Syne"/>
                <a:ea typeface="Syne"/>
                <a:cs typeface="Syne"/>
                <a:sym typeface="Syne"/>
              </a:rPr>
              <a:t>AstroSage Analysis</a:t>
            </a:r>
            <a:endParaRPr sz="5809" b="1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18" name="Google Shape;118;p24"/>
          <p:cNvSpPr txBox="1"/>
          <p:nvPr/>
        </p:nvSpPr>
        <p:spPr>
          <a:xfrm>
            <a:off x="306325" y="4604000"/>
            <a:ext cx="75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29/11/2025</a:t>
            </a:r>
            <a:endParaRPr sz="1000" b="0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119" name="Google Shape;119;p24"/>
          <p:cNvCxnSpPr/>
          <p:nvPr/>
        </p:nvCxnSpPr>
        <p:spPr>
          <a:xfrm>
            <a:off x="1133398" y="4800200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516" y="182391"/>
            <a:ext cx="884845" cy="88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0475" y="1085447"/>
            <a:ext cx="984925" cy="217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50900" y="349613"/>
            <a:ext cx="402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1"/>
          </p:nvPr>
        </p:nvSpPr>
        <p:spPr>
          <a:xfrm>
            <a:off x="350900" y="1223802"/>
            <a:ext cx="8385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>
                <a:latin typeface="Syne"/>
                <a:ea typeface="Syne"/>
                <a:cs typeface="Syne"/>
                <a:sym typeface="Syne"/>
              </a:rPr>
              <a:t>AstroSage has received a 1 crore investment and aims to optimize its call center operations. The goal is to determine how </a:t>
            </a:r>
            <a:endParaRPr sz="1200"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>
                <a:latin typeface="Syne"/>
                <a:ea typeface="Syne"/>
                <a:cs typeface="Syne"/>
                <a:sym typeface="Syne"/>
              </a:rPr>
              <a:t>to allocate this investment to maximize operational efficiency, customer satisfaction, and profitability. The analysis will consider historical call data, performance metrics, and market trends to make informed decisions.</a:t>
            </a:r>
            <a:endParaRPr sz="1200"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128" name="Google Shape;128;p25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9" name="Google Shape;129;p25" title="Dataset.png"/>
          <p:cNvPicPr preferRelativeResize="0"/>
          <p:nvPr/>
        </p:nvPicPr>
        <p:blipFill rotWithShape="1">
          <a:blip r:embed="rId3">
            <a:alphaModFix amt="94000"/>
          </a:blip>
          <a:srcRect l="586" t="306" b="16781"/>
          <a:stretch/>
        </p:blipFill>
        <p:spPr>
          <a:xfrm>
            <a:off x="408063" y="2094705"/>
            <a:ext cx="8327873" cy="2756469"/>
          </a:xfrm>
          <a:prstGeom prst="rect">
            <a:avLst/>
          </a:prstGeom>
          <a:noFill/>
          <a:ln>
            <a:noFill/>
          </a:ln>
          <a:effectLst>
            <a:reflection stA="30000" endPos="10000" fadeDir="5400012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26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26"/>
          <p:cNvSpPr txBox="1">
            <a:spLocks noGrp="1"/>
          </p:cNvSpPr>
          <p:nvPr>
            <p:ph type="body" idx="4294967295"/>
          </p:nvPr>
        </p:nvSpPr>
        <p:spPr>
          <a:xfrm>
            <a:off x="350900" y="1161400"/>
            <a:ext cx="45078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_id: Unique identifier for each record.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user: User ID associated with the record.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chatStatus: Status of the chat (e.g., incomplete, failed, completed).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guru: Unique identifier for the guru.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guruName: Name of the guru.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gid: Guru ID.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uid: User ID.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consultation Type: Type of consultation (e.g., Chat, Call).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website: Source of the consultation (e.g., gurucool).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Refund Status: Indicates if the session is refundable or not (e.g., no-refund).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is WhiteList User: Boolean indicating if the user is whitelisted.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chat Seconds: Duration of the chat in seconds.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queue: Boolean indicating if the session was queued.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FreeCall: Boolean indicating if the call was free.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Free Chat: Boolean indicating if the chat was free.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CreatedAT: Original creation date and time.</a:t>
            </a:r>
            <a:endParaRPr sz="900">
              <a:solidFill>
                <a:srgbClr val="E5E7EB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Albert Sans"/>
              <a:buChar char="●"/>
            </a:pPr>
            <a:r>
              <a:rPr lang="en" sz="900">
                <a:solidFill>
                  <a:srgbClr val="E5E7EB"/>
                </a:solidFill>
              </a:rPr>
              <a:t>updatedAt: Original update date and time.</a:t>
            </a:r>
            <a:endParaRPr sz="900">
              <a:solidFill>
                <a:srgbClr val="E5E7EB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00"/>
              <a:buFont typeface="Albert Sans"/>
              <a:buChar char="●"/>
            </a:pPr>
            <a:r>
              <a:rPr lang="en" sz="900">
                <a:solidFill>
                  <a:srgbClr val="E5E7EB"/>
                </a:solidFill>
              </a:rPr>
              <a:t>__v: Version key.</a:t>
            </a:r>
            <a:endParaRPr sz="900"/>
          </a:p>
        </p:txBody>
      </p:sp>
      <p:sp>
        <p:nvSpPr>
          <p:cNvPr id="136" name="Google Shape;136;p26"/>
          <p:cNvSpPr txBox="1">
            <a:spLocks noGrp="1"/>
          </p:cNvSpPr>
          <p:nvPr>
            <p:ph type="body" idx="4294967295"/>
          </p:nvPr>
        </p:nvSpPr>
        <p:spPr>
          <a:xfrm>
            <a:off x="4767094" y="1161400"/>
            <a:ext cx="4072800" cy="3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statementEntryId: Identifier for the statement entry.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chatStartTime: Start time of the chat.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chatEndTime: End time of the chat.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timeDuration: Undefined, some technical data as per app. (Don’t use it as the duration of chat/call)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callChannel: Channel used for the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calIvrType: IVR type used during the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callStatus: Status of the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CallSid: Unique identifier for the call session.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amount: Amount charged for the session.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astrologerCallStatus: Status of the astrologer during the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astrologerOnCallDuration: Duration of the astrologer's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astrologersEarnings: Earnings of the astrologer from the session.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netAmount: Net amount after deductions.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region: Region of the user.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userCallStatus: Status of the user's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userOnCallDuration: Duration of the user's call.</a:t>
            </a:r>
            <a:endParaRPr sz="1000">
              <a:solidFill>
                <a:srgbClr val="E5E7EB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Albert Sans"/>
              <a:buChar char="●"/>
            </a:pPr>
            <a:r>
              <a:rPr lang="en" sz="1000">
                <a:solidFill>
                  <a:srgbClr val="E5E7EB"/>
                </a:solidFill>
              </a:rPr>
              <a:t>rating: Rating assigned based on the session's status.</a:t>
            </a:r>
            <a:endParaRPr sz="1000">
              <a:solidFill>
                <a:srgbClr val="E5E7EB"/>
              </a:solidFill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4294967295"/>
          </p:nvPr>
        </p:nvSpPr>
        <p:spPr>
          <a:xfrm>
            <a:off x="6835350" y="486400"/>
            <a:ext cx="19845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21"/>
              </a:spcBef>
              <a:spcAft>
                <a:spcPts val="1221"/>
              </a:spcAft>
              <a:buNone/>
            </a:pPr>
            <a:r>
              <a:rPr lang="en" sz="1018">
                <a:solidFill>
                  <a:srgbClr val="E5E7EB"/>
                </a:solidFill>
                <a:latin typeface="Inter Medium"/>
                <a:ea typeface="Inter Medium"/>
                <a:cs typeface="Inter Medium"/>
                <a:sym typeface="Inter Medium"/>
              </a:rPr>
              <a:t>8,508 Records, 35 Attributes</a:t>
            </a:r>
            <a:endParaRPr sz="1018">
              <a:solidFill>
                <a:srgbClr val="E5E7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350900" y="349613"/>
            <a:ext cx="402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3000"/>
              <a:t>Data Overview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Call Load Analysis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44" name="Google Shape;144;p27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sz="1800"/>
              <a:t>Daily Call Volume</a:t>
            </a:r>
            <a:endParaRPr sz="1800"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25" y="1970449"/>
            <a:ext cx="4656300" cy="2673392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29000" endPos="18000" fadeDir="5400012" sy="-100000" algn="bl" rotWithShape="0"/>
          </a:effectLst>
        </p:spPr>
      </p:pic>
      <p:sp>
        <p:nvSpPr>
          <p:cNvPr id="147" name="Google Shape;147;p27"/>
          <p:cNvSpPr txBox="1"/>
          <p:nvPr/>
        </p:nvSpPr>
        <p:spPr>
          <a:xfrm>
            <a:off x="5426400" y="247600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Peak days show demand spikes</a:t>
            </a:r>
            <a:b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Agent capacity doesn’t scale equally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Call Load Analysis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53" name="Google Shape;153;p28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28"/>
          <p:cNvSpPr txBox="1"/>
          <p:nvPr/>
        </p:nvSpPr>
        <p:spPr>
          <a:xfrm>
            <a:off x="5418900" y="260345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Peak hours drive failures</a:t>
            </a:r>
            <a:b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Capacity planning needed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25" y="1974747"/>
            <a:ext cx="4656300" cy="2673399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29000" endPos="18000" fadeDir="5400012" sy="-100000" algn="bl" rotWithShape="0"/>
          </a:effectLst>
        </p:spPr>
      </p:pic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2)    Hourly Call Distribution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Call Performance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62" name="Google Shape;162;p29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Call </a:t>
            </a:r>
            <a:r>
              <a:rPr lang="en" sz="1800"/>
              <a:t>Completion Performance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03300" y="2603450"/>
            <a:ext cx="3301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Only 40.55% calls completed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Failures driven by busy/no-answer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l="1554" t="1413" r="1311" b="2404"/>
          <a:stretch/>
        </p:blipFill>
        <p:spPr>
          <a:xfrm>
            <a:off x="4341825" y="1974750"/>
            <a:ext cx="4166346" cy="2673399"/>
          </a:xfrm>
          <a:prstGeom prst="rect">
            <a:avLst/>
          </a:prstGeom>
          <a:noFill/>
          <a:ln>
            <a:noFill/>
          </a:ln>
          <a:effectLst>
            <a:outerShdw blurRad="1143000" dist="333375" dir="13200000" algn="bl" rotWithShape="0">
              <a:srgbClr val="E5E7EB">
                <a:alpha val="35000"/>
              </a:srgbClr>
            </a:outerShdw>
            <a:reflection stA="29000" endPos="18000" fadeDir="5400012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Customer Satisfaction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71" name="Google Shape;171;p30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 SemiBold"/>
              <a:buAutoNum type="arabicParenR"/>
            </a:pPr>
            <a:r>
              <a:rPr lang="en" sz="1800"/>
              <a:t>Rating Distribution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5495100" y="2603450"/>
            <a:ext cx="3078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Avg rating = 2.93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Majority ratings between 0–4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25" y="1974750"/>
            <a:ext cx="4656300" cy="2673400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38000" endPos="18000" fadeDir="5400012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Customer Satisfaction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80" name="Google Shape;180;p31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2)     Rating by Consultation Type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5487600" y="2603450"/>
            <a:ext cx="3078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Chat outperforms call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Good Experience = Higher rating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 rotWithShape="1">
          <a:blip r:embed="rId3">
            <a:alphaModFix/>
          </a:blip>
          <a:srcRect t="3172" b="1833"/>
          <a:stretch/>
        </p:blipFill>
        <p:spPr>
          <a:xfrm>
            <a:off x="475725" y="1974750"/>
            <a:ext cx="4656299" cy="2673400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38000" endPos="18000" fadeDir="5400012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Revenue Impact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89" name="Google Shape;189;p32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e SemiBold"/>
              <a:buAutoNum type="arabicParenR"/>
            </a:pP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 Revenue by Consultation Type 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473300" y="2726600"/>
            <a:ext cx="35316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Calls generate ~79% revenue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Call success = Revenue driver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92" name="Google Shape;192;p32"/>
          <p:cNvPicPr preferRelativeResize="0"/>
          <p:nvPr/>
        </p:nvPicPr>
        <p:blipFill rotWithShape="1">
          <a:blip r:embed="rId3">
            <a:alphaModFix/>
          </a:blip>
          <a:srcRect l="2257" t="2343" r="1690" b="4650"/>
          <a:stretch/>
        </p:blipFill>
        <p:spPr>
          <a:xfrm>
            <a:off x="4341825" y="1974750"/>
            <a:ext cx="4166350" cy="2693450"/>
          </a:xfrm>
          <a:prstGeom prst="rect">
            <a:avLst/>
          </a:prstGeom>
          <a:noFill/>
          <a:ln>
            <a:noFill/>
          </a:ln>
          <a:effectLst>
            <a:outerShdw blurRad="1143000" dist="333375" dir="13200000" algn="bl" rotWithShape="0">
              <a:srgbClr val="E5E7EB">
                <a:alpha val="35000"/>
              </a:srgbClr>
            </a:outerShdw>
            <a:reflection stA="34000" endPos="18000" fadeDir="5400012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Revenue Impact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198" name="Google Shape;198;p33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2)      Top 10 Gurus by Earnings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473300" y="2613475"/>
            <a:ext cx="3531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Revenue concentration among few gurus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Risk of dependency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 rotWithShape="1">
          <a:blip r:embed="rId3">
            <a:alphaModFix/>
          </a:blip>
          <a:srcRect l="1187" t="881" r="677" b="1194"/>
          <a:stretch/>
        </p:blipFill>
        <p:spPr>
          <a:xfrm>
            <a:off x="4341825" y="1974750"/>
            <a:ext cx="4166350" cy="2693450"/>
          </a:xfrm>
          <a:prstGeom prst="rect">
            <a:avLst/>
          </a:prstGeom>
          <a:noFill/>
          <a:ln>
            <a:noFill/>
          </a:ln>
          <a:effectLst>
            <a:outerShdw blurRad="1143000" dist="333375" dir="13200000" algn="bl" rotWithShape="0">
              <a:srgbClr val="E5E7EB">
                <a:alpha val="35000"/>
              </a:srgbClr>
            </a:outerShdw>
            <a:reflection stA="34000" endPos="18000" fadeDir="5400012" sy="-100000" algn="bl" rotWithShape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/>
        </p:nvSpPr>
        <p:spPr>
          <a:xfrm>
            <a:off x="350900" y="340396"/>
            <a:ext cx="46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Workload Imbalance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07" name="Google Shape;207;p34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34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791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Agents/Gurus Workload Imbalance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5495100" y="2603450"/>
            <a:ext cx="30786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Uneven call distribution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Burnout risk during peak hours</a:t>
            </a:r>
            <a:endParaRPr sz="16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l="1275" t="1152" r="1382" b="1152"/>
          <a:stretch/>
        </p:blipFill>
        <p:spPr>
          <a:xfrm>
            <a:off x="475725" y="1974750"/>
            <a:ext cx="4656300" cy="2673400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38000" endPos="18000" fadeDir="5400012" sy="-100000" algn="bl" rotWithShape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/>
        </p:nvSpPr>
        <p:spPr>
          <a:xfrm>
            <a:off x="350900" y="340400"/>
            <a:ext cx="58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Strategic Recommendations 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16" name="Google Shape;216;p35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35"/>
          <p:cNvSpPr txBox="1">
            <a:spLocks noGrp="1"/>
          </p:cNvSpPr>
          <p:nvPr>
            <p:ph type="title"/>
          </p:nvPr>
        </p:nvSpPr>
        <p:spPr>
          <a:xfrm>
            <a:off x="350900" y="1260000"/>
            <a:ext cx="35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Technology Improvements</a:t>
            </a:r>
            <a:endParaRPr sz="1800"/>
          </a:p>
        </p:txBody>
      </p:sp>
      <p:sp>
        <p:nvSpPr>
          <p:cNvPr id="218" name="Google Shape;218;p35"/>
          <p:cNvSpPr txBox="1"/>
          <p:nvPr/>
        </p:nvSpPr>
        <p:spPr>
          <a:xfrm>
            <a:off x="350900" y="1990500"/>
            <a:ext cx="35772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Improve call routing &amp; connectivity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Introduce AI chatbots for basic queries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Reduce busy and failed calls during peak hours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4903425" y="1260000"/>
            <a:ext cx="396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Workforce &amp; Training Strategy</a:t>
            </a:r>
            <a:endParaRPr sz="1800"/>
          </a:p>
        </p:txBody>
      </p:sp>
      <p:sp>
        <p:nvSpPr>
          <p:cNvPr id="220" name="Google Shape;220;p35"/>
          <p:cNvSpPr txBox="1"/>
          <p:nvPr/>
        </p:nvSpPr>
        <p:spPr>
          <a:xfrm>
            <a:off x="4903425" y="1982644"/>
            <a:ext cx="35772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Hire experienced Astro 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Gurus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Train agents using low-rating insights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Use shift-based scheduling for peak hours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cxnSp>
        <p:nvCxnSpPr>
          <p:cNvPr id="221" name="Google Shape;221;p35"/>
          <p:cNvCxnSpPr/>
          <p:nvPr/>
        </p:nvCxnSpPr>
        <p:spPr>
          <a:xfrm flipH="1">
            <a:off x="4572000" y="1347984"/>
            <a:ext cx="24000" cy="3429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/>
        </p:nvSpPr>
        <p:spPr>
          <a:xfrm>
            <a:off x="350900" y="340400"/>
            <a:ext cx="58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Investment Allocation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27" name="Google Shape;227;p36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50900" y="1282725"/>
            <a:ext cx="35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₹</a:t>
            </a:r>
            <a:r>
              <a:rPr lang="en" sz="1800" b="0">
                <a:latin typeface="Syne SemiBold"/>
                <a:ea typeface="Syne SemiBold"/>
                <a:cs typeface="Syne SemiBold"/>
                <a:sym typeface="Syne SemiBold"/>
              </a:rPr>
              <a:t>1 cr investment allocation</a:t>
            </a:r>
            <a:endParaRPr sz="1800"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29" name="Google Shape;229;p36"/>
          <p:cNvSpPr txBox="1">
            <a:spLocks noGrp="1"/>
          </p:cNvSpPr>
          <p:nvPr>
            <p:ph type="title"/>
          </p:nvPr>
        </p:nvSpPr>
        <p:spPr>
          <a:xfrm>
            <a:off x="5156150" y="2701900"/>
            <a:ext cx="35262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0">
                <a:solidFill>
                  <a:srgbClr val="E5E7EB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Allocation based on operational bottlenecks &amp; revenue dependency on calls</a:t>
            </a:r>
            <a:endParaRPr sz="1800" b="0"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56" y="1964050"/>
            <a:ext cx="4382795" cy="2574626"/>
          </a:xfrm>
          <a:prstGeom prst="rect">
            <a:avLst/>
          </a:prstGeom>
          <a:noFill/>
          <a:ln>
            <a:noFill/>
          </a:ln>
          <a:effectLst>
            <a:outerShdw blurRad="785813" dist="333375" dir="2700000" algn="bl" rotWithShape="0">
              <a:srgbClr val="000000">
                <a:alpha val="31000"/>
              </a:srgbClr>
            </a:outerShdw>
            <a:reflection stA="39000" endPos="18000" fadeDir="5400012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/>
        </p:nvSpPr>
        <p:spPr>
          <a:xfrm>
            <a:off x="2429250" y="222300"/>
            <a:ext cx="428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Dashboard Overview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pic>
        <p:nvPicPr>
          <p:cNvPr id="236" name="Google Shape;236;p37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725" y="992244"/>
            <a:ext cx="6944575" cy="386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/>
        </p:nvSpPr>
        <p:spPr>
          <a:xfrm>
            <a:off x="350900" y="340400"/>
            <a:ext cx="58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Dashboard Overview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42" name="Google Shape;242;p38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350900" y="1641000"/>
            <a:ext cx="369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Interactive dashboard with:</a:t>
            </a:r>
            <a:endParaRPr sz="1800"/>
          </a:p>
        </p:txBody>
      </p:sp>
      <p:sp>
        <p:nvSpPr>
          <p:cNvPr id="244" name="Google Shape;244;p38"/>
          <p:cNvSpPr txBox="1"/>
          <p:nvPr/>
        </p:nvSpPr>
        <p:spPr>
          <a:xfrm>
            <a:off x="350900" y="2371500"/>
            <a:ext cx="3577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KPIs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Time-Based Trends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Call status, ratings, revenue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245" name="Google Shape;245;p38"/>
          <p:cNvSpPr txBox="1">
            <a:spLocks noGrp="1"/>
          </p:cNvSpPr>
          <p:nvPr>
            <p:ph type="title"/>
          </p:nvPr>
        </p:nvSpPr>
        <p:spPr>
          <a:xfrm>
            <a:off x="5436825" y="1641000"/>
            <a:ext cx="319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Slicers:</a:t>
            </a:r>
            <a:endParaRPr sz="1800"/>
          </a:p>
        </p:txBody>
      </p:sp>
      <p:sp>
        <p:nvSpPr>
          <p:cNvPr id="246" name="Google Shape;246;p38"/>
          <p:cNvSpPr txBox="1"/>
          <p:nvPr/>
        </p:nvSpPr>
        <p:spPr>
          <a:xfrm>
            <a:off x="5436825" y="2363646"/>
            <a:ext cx="2885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Date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Website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Consultation Type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Month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Rating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 SemiBold"/>
              <a:buChar char="●"/>
            </a:pPr>
            <a:r>
              <a:rPr lang="en" sz="1600" i="1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Call Status</a:t>
            </a:r>
            <a:endParaRPr sz="1600" i="1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/>
        </p:nvSpPr>
        <p:spPr>
          <a:xfrm>
            <a:off x="350900" y="340400"/>
            <a:ext cx="58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Conclusion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52" name="Google Shape;252;p39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39"/>
          <p:cNvSpPr txBox="1"/>
          <p:nvPr/>
        </p:nvSpPr>
        <p:spPr>
          <a:xfrm>
            <a:off x="374550" y="1495206"/>
            <a:ext cx="83949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This analysis evaluates AstroSage’s call center performance using historical data to assess operational efficiency, customer satisfaction, and revenue impact. Out of 8,508 total calls, only 40.55% were completed, highlighting a significant efficiency gap, particularly during peak days and peak hours. Customer satisfaction is relatively low, with an average rating of 2.93 and most ratings falling between 0 and 4, indicating clear service quality challenges.</a:t>
            </a: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From a business perspective, call consultations generate the majority of revenue (₹2.13 lakh), making call performance critical to profitability. Although 131 Astro Gurus handle calls, workload distribution is uneven, with a small group overloaded while others remain underutilised. In contrast, chat consultations show higher satisfaction, suggesting that faster and smoother interactions lead to better user experience.</a:t>
            </a: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These insights, supported by an interactive dashboard with KPIs, trends, and slicers, translate into clear action areas: technology upgrades, targeted training, improved workforce allocation during peak hours, and greater adoption of chat-based services. Implementing these measures can improve call completion rates, enhance customer satisfaction, and drive sustainable operational efficiency and revenue growth.</a:t>
            </a: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/>
        </p:nvSpPr>
        <p:spPr>
          <a:xfrm>
            <a:off x="350900" y="340400"/>
            <a:ext cx="58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rPr>
              <a:t>Recommendations</a:t>
            </a:r>
            <a:endParaRPr sz="3000">
              <a:solidFill>
                <a:schemeClr val="dk1"/>
              </a:solidFill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cxnSp>
        <p:nvCxnSpPr>
          <p:cNvPr id="259" name="Google Shape;259;p40"/>
          <p:cNvCxnSpPr/>
          <p:nvPr/>
        </p:nvCxnSpPr>
        <p:spPr>
          <a:xfrm rot="10800000" flipH="1">
            <a:off x="0" y="1065895"/>
            <a:ext cx="9154800" cy="1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40"/>
          <p:cNvSpPr txBox="1"/>
          <p:nvPr/>
        </p:nvSpPr>
        <p:spPr>
          <a:xfrm>
            <a:off x="1331100" y="1614075"/>
            <a:ext cx="6481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SemiBold"/>
              <a:buChar char="●"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Redistribute calls during peak hours to balance workload across gurus.</a:t>
            </a:r>
            <a:b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SemiBold"/>
              <a:buChar char="●"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Improve training for low-rated gurus using rating and call duration insights.</a:t>
            </a:r>
            <a:b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SemiBold"/>
              <a:buChar char="●"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Upgrade call routing and introduce AI/chatbots to reduce failed and busy calls.</a:t>
            </a:r>
            <a:b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SemiBold"/>
              <a:buChar char="●"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Promote chat consultations to lower call load and improve satisfaction.</a:t>
            </a:r>
            <a:b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</a:b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SemiBold"/>
              <a:buChar char="●"/>
            </a:pPr>
            <a:r>
              <a:rPr lang="en" sz="12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Use the interactive dashboard with slicers for continuous performance monitoring</a:t>
            </a:r>
            <a:endParaRPr sz="1200">
              <a:solidFill>
                <a:schemeClr val="dk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1657800" y="4088350"/>
            <a:ext cx="582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Overall, focused investments in technology, training, and workforce optimization will improve call completion rates, customer satisfaction, and long-term revenue growth.</a:t>
            </a:r>
            <a:endParaRPr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>
            <a:spLocks noGrp="1"/>
          </p:cNvSpPr>
          <p:nvPr>
            <p:ph type="subTitle" idx="1"/>
          </p:nvPr>
        </p:nvSpPr>
        <p:spPr>
          <a:xfrm>
            <a:off x="6412200" y="4103300"/>
            <a:ext cx="25032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25" tIns="106225" rIns="106225" bIns="10622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"/>
              <a:buNone/>
            </a:pPr>
            <a:r>
              <a:rPr lang="en" sz="1859"/>
              <a:t>By  Prajyot .P. Naik</a:t>
            </a:r>
            <a:endParaRPr sz="1859"/>
          </a:p>
        </p:txBody>
      </p:sp>
      <p:sp>
        <p:nvSpPr>
          <p:cNvPr id="267" name="Google Shape;267;p41"/>
          <p:cNvSpPr txBox="1">
            <a:spLocks noGrp="1"/>
          </p:cNvSpPr>
          <p:nvPr>
            <p:ph type="ctrTitle"/>
          </p:nvPr>
        </p:nvSpPr>
        <p:spPr>
          <a:xfrm>
            <a:off x="2342549" y="1762250"/>
            <a:ext cx="4489325" cy="11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225" tIns="106225" rIns="106225" bIns="106225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42"/>
              <a:buNone/>
            </a:pPr>
            <a:r>
              <a:rPr lang="en" sz="5809" b="1" dirty="0">
                <a:latin typeface="Syne"/>
                <a:ea typeface="Syne"/>
                <a:cs typeface="Syne"/>
                <a:sym typeface="Syne"/>
              </a:rPr>
              <a:t>Thank you</a:t>
            </a:r>
            <a:endParaRPr sz="5809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268" name="Google Shape;268;p41"/>
          <p:cNvSpPr txBox="1"/>
          <p:nvPr/>
        </p:nvSpPr>
        <p:spPr>
          <a:xfrm>
            <a:off x="306325" y="4604000"/>
            <a:ext cx="75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29/11/2025</a:t>
            </a:r>
            <a:endParaRPr sz="1000" b="0" i="0" u="none" strike="noStrike" cap="none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cxnSp>
        <p:nvCxnSpPr>
          <p:cNvPr id="269" name="Google Shape;269;p41"/>
          <p:cNvCxnSpPr/>
          <p:nvPr/>
        </p:nvCxnSpPr>
        <p:spPr>
          <a:xfrm>
            <a:off x="1133398" y="4800200"/>
            <a:ext cx="824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0" name="Google Shape;27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0516" y="182391"/>
            <a:ext cx="884845" cy="88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0475" y="1085447"/>
            <a:ext cx="984925" cy="217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On-screen Show (16:9)</PresentationFormat>
  <Paragraphs>140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Syne</vt:lpstr>
      <vt:lpstr>Albert Sans Medium</vt:lpstr>
      <vt:lpstr>Albert Sans</vt:lpstr>
      <vt:lpstr>Nunito Light</vt:lpstr>
      <vt:lpstr>Raleway</vt:lpstr>
      <vt:lpstr>Arial</vt:lpstr>
      <vt:lpstr>Albert Sans SemiBold</vt:lpstr>
      <vt:lpstr>Syne SemiBold</vt:lpstr>
      <vt:lpstr>Inter Medium</vt:lpstr>
      <vt:lpstr>Open Sans</vt:lpstr>
      <vt:lpstr>Syne Medium</vt:lpstr>
      <vt:lpstr>Tech Startup by Slidesgo</vt:lpstr>
      <vt:lpstr>AstroSage Analysis</vt:lpstr>
      <vt:lpstr>Problem Statement</vt:lpstr>
      <vt:lpstr>Data Overview</vt:lpstr>
      <vt:lpstr>Daily Call Volume</vt:lpstr>
      <vt:lpstr>2)    Hourly Call Distribution</vt:lpstr>
      <vt:lpstr>Call Completion Performance</vt:lpstr>
      <vt:lpstr>Rating Distribution</vt:lpstr>
      <vt:lpstr>2)     Rating by Consultation Type</vt:lpstr>
      <vt:lpstr> Revenue by Consultation Type </vt:lpstr>
      <vt:lpstr>2)      Top 10 Gurus by Earnings</vt:lpstr>
      <vt:lpstr>Agents/Gurus Workload Imbalance</vt:lpstr>
      <vt:lpstr>Technology Improvements</vt:lpstr>
      <vt:lpstr>₹1 cr investment allocation</vt:lpstr>
      <vt:lpstr>PowerPoint Presentation</vt:lpstr>
      <vt:lpstr>Interactive dashboard with: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Prajyot Naik</cp:lastModifiedBy>
  <cp:revision>1</cp:revision>
  <dcterms:modified xsi:type="dcterms:W3CDTF">2025-12-24T09:56:02Z</dcterms:modified>
</cp:coreProperties>
</file>